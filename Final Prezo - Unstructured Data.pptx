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hF6tBZADU60jZUBGqKp90JaGHAq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" name="Google Shape;32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" name="Google Shape;33;p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7" name="Google Shape;6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9" name="Google Shape;9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e045118868_2_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g3e045118868_2_4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5" name="Google Shape;155;g3e045118868_2_4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e045118868_2_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g3e045118868_2_8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8" name="Google Shape;168;g3e045118868_2_8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2" name="Google Shape;18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5" name="Google Shape;20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7" name="Google Shape;23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2" name="Google Shape;26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e045118868_2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" name="Google Shape;277;g3e045118868_2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8" name="Google Shape;278;g3e045118868_2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://arxiv.org/abs/2404.16130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744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0D8C8C"/>
          </a:solidFill>
          <a:ln cap="flat" cmpd="sng" w="12700">
            <a:solidFill>
              <a:srgbClr val="0D8C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" name="Google Shape;17;p1"/>
          <p:cNvCxnSpPr/>
          <p:nvPr/>
        </p:nvCxnSpPr>
        <p:spPr>
          <a:xfrm>
            <a:off x="9144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1"/>
          <p:cNvCxnSpPr/>
          <p:nvPr/>
        </p:nvCxnSpPr>
        <p:spPr>
          <a:xfrm>
            <a:off x="18288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" name="Google Shape;19;p1"/>
          <p:cNvCxnSpPr/>
          <p:nvPr/>
        </p:nvCxnSpPr>
        <p:spPr>
          <a:xfrm>
            <a:off x="27432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" name="Google Shape;20;p1"/>
          <p:cNvCxnSpPr/>
          <p:nvPr/>
        </p:nvCxnSpPr>
        <p:spPr>
          <a:xfrm>
            <a:off x="36576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" name="Google Shape;21;p1"/>
          <p:cNvCxnSpPr/>
          <p:nvPr/>
        </p:nvCxnSpPr>
        <p:spPr>
          <a:xfrm>
            <a:off x="4572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" name="Google Shape;22;p1"/>
          <p:cNvCxnSpPr/>
          <p:nvPr/>
        </p:nvCxnSpPr>
        <p:spPr>
          <a:xfrm>
            <a:off x="54864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1"/>
          <p:cNvCxnSpPr/>
          <p:nvPr/>
        </p:nvCxnSpPr>
        <p:spPr>
          <a:xfrm>
            <a:off x="64008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1"/>
          <p:cNvCxnSpPr/>
          <p:nvPr/>
        </p:nvCxnSpPr>
        <p:spPr>
          <a:xfrm>
            <a:off x="73152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" name="Google Shape;25;p1"/>
          <p:cNvCxnSpPr/>
          <p:nvPr/>
        </p:nvCxnSpPr>
        <p:spPr>
          <a:xfrm>
            <a:off x="82296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" name="Google Shape;26;p1"/>
          <p:cNvSpPr/>
          <p:nvPr/>
        </p:nvSpPr>
        <p:spPr>
          <a:xfrm>
            <a:off x="548640" y="640080"/>
            <a:ext cx="80467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libri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Career Knowledge - Reddit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548640" y="160020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GraphRAG-Powered Career Advice from Reddit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548640" y="233172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Unstructured Data  ·  Final Group Project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548640" y="3547872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Jenn  ·  Leslieane  ·  Harelle  ·  David  ·  Aryan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"/>
          <p:cNvSpPr/>
          <p:nvPr/>
        </p:nvSpPr>
        <p:spPr>
          <a:xfrm>
            <a:off x="0" y="0"/>
            <a:ext cx="9144000" cy="658500"/>
          </a:xfrm>
          <a:prstGeom prst="rect">
            <a:avLst/>
          </a:prstGeom>
          <a:solidFill>
            <a:srgbClr val="1A2744"/>
          </a:solidFill>
          <a:ln cap="flat" cmpd="sng" w="12700">
            <a:solidFill>
              <a:srgbClr val="1A27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320040" y="0"/>
            <a:ext cx="68580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 Overview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365760" y="777240"/>
            <a:ext cx="8412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Overall Problem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365760" y="1143000"/>
            <a:ext cx="8412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Our team discussed careers going forward, and we noticed that people turn to Reddit for peer advice, but a lot of opinions are buried in unstructured text. With that in mind, we built a four-phase pipeline that scrapes, structures, graphs, and queries real career advice using knowledge graphs.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274320" y="1920240"/>
            <a:ext cx="1993500" cy="2606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274320" y="1920240"/>
            <a:ext cx="1993500" cy="411600"/>
          </a:xfrm>
          <a:prstGeom prst="rect">
            <a:avLst/>
          </a:prstGeom>
          <a:solidFill>
            <a:srgbClr val="1A2744"/>
          </a:solidFill>
          <a:ln cap="flat" cmpd="sng" w="12700">
            <a:solidFill>
              <a:srgbClr val="1A27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274320" y="1920240"/>
            <a:ext cx="19935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365760" y="2395728"/>
            <a:ext cx="1810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Data Collection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365760" y="2788920"/>
            <a:ext cx="18105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Scrape Reddit posts from 5 career subreddits with filtering &amp; pagination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" name="Google Shape;44;p2"/>
          <p:cNvCxnSpPr/>
          <p:nvPr/>
        </p:nvCxnSpPr>
        <p:spPr>
          <a:xfrm>
            <a:off x="2267712" y="3227832"/>
            <a:ext cx="173700" cy="0"/>
          </a:xfrm>
          <a:prstGeom prst="straightConnector1">
            <a:avLst/>
          </a:prstGeom>
          <a:noFill/>
          <a:ln cap="flat" cmpd="sng" w="19050">
            <a:solidFill>
              <a:srgbClr val="0D8C8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2"/>
          <p:cNvSpPr/>
          <p:nvPr/>
        </p:nvSpPr>
        <p:spPr>
          <a:xfrm>
            <a:off x="2441448" y="1920240"/>
            <a:ext cx="1993500" cy="2606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2441448" y="1920240"/>
            <a:ext cx="1993500" cy="411600"/>
          </a:xfrm>
          <a:prstGeom prst="rect">
            <a:avLst/>
          </a:prstGeom>
          <a:solidFill>
            <a:srgbClr val="0D8C8C"/>
          </a:solidFill>
          <a:ln cap="flat" cmpd="sng" w="12700">
            <a:solidFill>
              <a:srgbClr val="0D8C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2441448" y="1920240"/>
            <a:ext cx="19935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2532888" y="2395728"/>
            <a:ext cx="1810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LLM Extraction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2532888" y="2788920"/>
            <a:ext cx="18105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GPT-4o-mini extracts structured JSON: data on roles, outcomes, sentiment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" name="Google Shape;50;p2"/>
          <p:cNvCxnSpPr/>
          <p:nvPr/>
        </p:nvCxnSpPr>
        <p:spPr>
          <a:xfrm>
            <a:off x="4434840" y="3227832"/>
            <a:ext cx="173700" cy="0"/>
          </a:xfrm>
          <a:prstGeom prst="straightConnector1">
            <a:avLst/>
          </a:prstGeom>
          <a:noFill/>
          <a:ln cap="flat" cmpd="sng" w="19050">
            <a:solidFill>
              <a:srgbClr val="0D8C8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2"/>
          <p:cNvSpPr/>
          <p:nvPr/>
        </p:nvSpPr>
        <p:spPr>
          <a:xfrm>
            <a:off x="4608576" y="1920240"/>
            <a:ext cx="1993500" cy="2606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4608576" y="1920240"/>
            <a:ext cx="1993500" cy="411600"/>
          </a:xfrm>
          <a:prstGeom prst="rect">
            <a:avLst/>
          </a:prstGeom>
          <a:solidFill>
            <a:srgbClr val="0D6B8C"/>
          </a:solidFill>
          <a:ln cap="flat" cmpd="sng" w="12700">
            <a:solidFill>
              <a:srgbClr val="0D6B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4608576" y="1920240"/>
            <a:ext cx="19935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4700016" y="2395728"/>
            <a:ext cx="1810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Knowledge Graph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4700016" y="2788920"/>
            <a:ext cx="18105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NetworkX graph with almost 11k nodes and roughly 12.5k edges + semantic embeddings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6" name="Google Shape;56;p2"/>
          <p:cNvCxnSpPr/>
          <p:nvPr/>
        </p:nvCxnSpPr>
        <p:spPr>
          <a:xfrm>
            <a:off x="6601968" y="3227832"/>
            <a:ext cx="173700" cy="0"/>
          </a:xfrm>
          <a:prstGeom prst="straightConnector1">
            <a:avLst/>
          </a:prstGeom>
          <a:noFill/>
          <a:ln cap="flat" cmpd="sng" w="19050">
            <a:solidFill>
              <a:srgbClr val="0D8C8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" name="Google Shape;57;p2"/>
          <p:cNvSpPr/>
          <p:nvPr/>
        </p:nvSpPr>
        <p:spPr>
          <a:xfrm>
            <a:off x="6775704" y="1920240"/>
            <a:ext cx="1993500" cy="2606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6775704" y="1920240"/>
            <a:ext cx="1993500" cy="411600"/>
          </a:xfrm>
          <a:prstGeom prst="rect">
            <a:avLst/>
          </a:prstGeom>
          <a:solidFill>
            <a:srgbClr val="1A6B44"/>
          </a:solidFill>
          <a:ln cap="flat" cmpd="sng" w="12700">
            <a:solidFill>
              <a:srgbClr val="1A6B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6775704" y="1920240"/>
            <a:ext cx="19935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6867144" y="2395728"/>
            <a:ext cx="1810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GraphRAG Q&amp;A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6867144" y="2788920"/>
            <a:ext cx="18105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Cosine similarity retrieval + graph traversal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7452360" y="201168"/>
            <a:ext cx="1371600" cy="292500"/>
          </a:xfrm>
          <a:prstGeom prst="roundRect">
            <a:avLst>
              <a:gd fmla="val 50000" name="adj"/>
            </a:avLst>
          </a:prstGeom>
          <a:solidFill>
            <a:srgbClr val="E4572E"/>
          </a:solidFill>
          <a:ln cap="flat" cmpd="sng" w="12700">
            <a:solidFill>
              <a:srgbClr val="E457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7452360" y="201168"/>
            <a:ext cx="1371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Harelle</a:t>
            </a:r>
            <a:endParaRPr sz="1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744"/>
          </a:solidFill>
          <a:ln cap="flat" cmpd="sng" w="12700">
            <a:solidFill>
              <a:srgbClr val="1A27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320040" y="0"/>
            <a:ext cx="68580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1 </a:t>
            </a: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Collection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274320" y="804672"/>
            <a:ext cx="4023360" cy="3977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457200" y="877824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Subreddits Scraped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457200" y="1316736"/>
            <a:ext cx="201168" cy="201168"/>
          </a:xfrm>
          <a:prstGeom prst="ellipse">
            <a:avLst/>
          </a:prstGeom>
          <a:solidFill>
            <a:srgbClr val="0D8C8C"/>
          </a:solidFill>
          <a:ln cap="flat" cmpd="sng" w="12700">
            <a:solidFill>
              <a:srgbClr val="0D8C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749808" y="1298448"/>
            <a:ext cx="32918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r/cscareerquestions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457200" y="1847088"/>
            <a:ext cx="201168" cy="201168"/>
          </a:xfrm>
          <a:prstGeom prst="ellipse">
            <a:avLst/>
          </a:prstGeom>
          <a:solidFill>
            <a:srgbClr val="0D8C8C"/>
          </a:solidFill>
          <a:ln cap="flat" cmpd="sng" w="12700">
            <a:solidFill>
              <a:srgbClr val="0D8C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749808" y="1828800"/>
            <a:ext cx="32918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r/careerguidance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457200" y="2377440"/>
            <a:ext cx="201168" cy="201168"/>
          </a:xfrm>
          <a:prstGeom prst="ellipse">
            <a:avLst/>
          </a:prstGeom>
          <a:solidFill>
            <a:srgbClr val="0D8C8C"/>
          </a:solidFill>
          <a:ln cap="flat" cmpd="sng" w="12700">
            <a:solidFill>
              <a:srgbClr val="0D8C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749808" y="2359152"/>
            <a:ext cx="32918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r/financialindependence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457200" y="2907792"/>
            <a:ext cx="201168" cy="201168"/>
          </a:xfrm>
          <a:prstGeom prst="ellipse">
            <a:avLst/>
          </a:prstGeom>
          <a:solidFill>
            <a:srgbClr val="0D8C8C"/>
          </a:solidFill>
          <a:ln cap="flat" cmpd="sng" w="12700">
            <a:solidFill>
              <a:srgbClr val="0D8C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749808" y="2889504"/>
            <a:ext cx="32918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r/ITCareerQuestions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457200" y="3438144"/>
            <a:ext cx="201168" cy="201168"/>
          </a:xfrm>
          <a:prstGeom prst="ellipse">
            <a:avLst/>
          </a:prstGeom>
          <a:solidFill>
            <a:srgbClr val="0D8C8C"/>
          </a:solidFill>
          <a:ln cap="flat" cmpd="sng" w="12700">
            <a:solidFill>
              <a:srgbClr val="0D8C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749808" y="3419856"/>
            <a:ext cx="32918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r/learnprogramming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457200" y="4041648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Career keywords used as filters: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457200" y="4279392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8C8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D8C8C"/>
                </a:solidFill>
                <a:latin typeface="Calibri"/>
                <a:ea typeface="Calibri"/>
                <a:cs typeface="Calibri"/>
                <a:sym typeface="Calibri"/>
              </a:rPr>
              <a:t>switch, transition, burnout, laid off, salary, offer, interview…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4480560" y="841248"/>
            <a:ext cx="4389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Data Collection Strategy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4480560" y="1261872"/>
            <a:ext cx="438912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4617720" y="1307592"/>
            <a:ext cx="41605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Approach evolution: API → JSON endpoint → local execution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4480560" y="1929384"/>
            <a:ext cx="438912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4617720" y="1975104"/>
            <a:ext cx="41605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Filtered by keywords and score &gt;= 10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4480560" y="2596896"/>
            <a:ext cx="438912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4617720" y="2642616"/>
            <a:ext cx="41605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Flagged posts containing UPDATE or EDIT language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4480560" y="3264408"/>
            <a:ext cx="4389120" cy="5669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4617720" y="3310128"/>
            <a:ext cx="41605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1,080 posts collected and 392 with outcome flags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7452360" y="201168"/>
            <a:ext cx="1371600" cy="292500"/>
          </a:xfrm>
          <a:prstGeom prst="roundRect">
            <a:avLst>
              <a:gd fmla="val 50000" name="adj"/>
            </a:avLst>
          </a:prstGeom>
          <a:solidFill>
            <a:srgbClr val="E4572E"/>
          </a:solidFill>
          <a:ln cap="flat" cmpd="sng" w="12700">
            <a:solidFill>
              <a:srgbClr val="E457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7452360" y="201168"/>
            <a:ext cx="1371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David</a:t>
            </a:r>
            <a:endParaRPr sz="1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744"/>
          </a:solidFill>
          <a:ln cap="flat" cmpd="sng" w="12700">
            <a:solidFill>
              <a:srgbClr val="1A27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320040" y="0"/>
            <a:ext cx="68580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2 </a:t>
            </a: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 Extraction Pipeline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365760" y="822960"/>
            <a:ext cx="3840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Model &amp; Config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365760" y="1207008"/>
            <a:ext cx="3931920" cy="347472"/>
          </a:xfrm>
          <a:prstGeom prst="rect">
            <a:avLst/>
          </a:prstGeom>
          <a:solidFill>
            <a:srgbClr val="F1F5F9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502920" y="1207008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Model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2103120" y="1207008"/>
            <a:ext cx="2103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gpt-4o-mini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365760" y="1609344"/>
            <a:ext cx="3931920" cy="3474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502920" y="1609344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Input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2103120" y="1609344"/>
            <a:ext cx="2103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reddit_posts.csv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365760" y="2011680"/>
            <a:ext cx="3931920" cy="347472"/>
          </a:xfrm>
          <a:prstGeom prst="rect">
            <a:avLst/>
          </a:prstGeom>
          <a:solidFill>
            <a:srgbClr val="F1F5F9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502920" y="2011680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2103120" y="2011680"/>
            <a:ext cx="2103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extracted_posts_clean.json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365760" y="2414016"/>
            <a:ext cx="3931920" cy="3474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502920" y="2414016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Checkpointing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2103120" y="2414016"/>
            <a:ext cx="2103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Every 50 posts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365760" y="2816352"/>
            <a:ext cx="3931920" cy="347472"/>
          </a:xfrm>
          <a:prstGeom prst="rect">
            <a:avLst/>
          </a:prstGeom>
          <a:solidFill>
            <a:srgbClr val="F1F5F9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502920" y="2816352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Est. cost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2103120" y="2816352"/>
            <a:ext cx="2103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$</a:t>
            </a: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0.00014</a:t>
            </a: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per post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365760" y="3218688"/>
            <a:ext cx="3931920" cy="3474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502920" y="3218688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Posts processed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2103120" y="3218688"/>
            <a:ext cx="2103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1,897 records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365760" y="3621024"/>
            <a:ext cx="3931920" cy="347472"/>
          </a:xfrm>
          <a:prstGeom prst="rect">
            <a:avLst/>
          </a:prstGeom>
          <a:solidFill>
            <a:srgbClr val="F1F5F9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502920" y="3621024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Outcome posts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2103120" y="3621024"/>
            <a:ext cx="2103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467 with real outcomes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4617720" y="822960"/>
            <a:ext cx="4206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Extracted Fields (per post)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4617720" y="1207008"/>
            <a:ext cx="4206240" cy="3474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4736592" y="1207008"/>
            <a:ext cx="2103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8C8C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D8C8C"/>
                </a:solidFill>
                <a:latin typeface="Calibri"/>
                <a:ea typeface="Calibri"/>
                <a:cs typeface="Calibri"/>
                <a:sym typeface="Calibri"/>
              </a:rPr>
              <a:t>problem_type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6858000" y="1207008"/>
            <a:ext cx="1874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career_switch, burnout, layo</a:t>
            </a:r>
            <a:r>
              <a:rPr i="1"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ff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4617720" y="1609344"/>
            <a:ext cx="4206240" cy="3474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4736592" y="1609344"/>
            <a:ext cx="2103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8C8C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D8C8C"/>
                </a:solidFill>
                <a:latin typeface="Calibri"/>
                <a:ea typeface="Calibri"/>
                <a:cs typeface="Calibri"/>
                <a:sym typeface="Calibri"/>
              </a:rPr>
              <a:t>current_role / target_role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6858000" y="1609344"/>
            <a:ext cx="1874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data analyst </a:t>
            </a:r>
            <a:r>
              <a:rPr i="1"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to </a:t>
            </a: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software engineer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4617720" y="2011680"/>
            <a:ext cx="4206240" cy="3474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4736592" y="2011680"/>
            <a:ext cx="2103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8C8C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D8C8C"/>
                </a:solidFill>
                <a:latin typeface="Calibri"/>
                <a:ea typeface="Calibri"/>
                <a:cs typeface="Calibri"/>
                <a:sym typeface="Calibri"/>
              </a:rPr>
              <a:t>years_experience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6858000" y="2011680"/>
            <a:ext cx="1874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integer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4617720" y="2414016"/>
            <a:ext cx="4206240" cy="3474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4736592" y="2414016"/>
            <a:ext cx="2103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8C8C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D8C8C"/>
                </a:solidFill>
                <a:latin typeface="Calibri"/>
                <a:ea typeface="Calibri"/>
                <a:cs typeface="Calibri"/>
                <a:sym typeface="Calibri"/>
              </a:rPr>
              <a:t>constraints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6858000" y="2414016"/>
            <a:ext cx="1874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i="1"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no CS degree, can't relocate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4617720" y="2816352"/>
            <a:ext cx="4206240" cy="3474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4736592" y="2816352"/>
            <a:ext cx="2103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8C8C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D8C8C"/>
                </a:solidFill>
                <a:latin typeface="Calibri"/>
                <a:ea typeface="Calibri"/>
                <a:cs typeface="Calibri"/>
                <a:sym typeface="Calibri"/>
              </a:rPr>
              <a:t>advice_summary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6858000" y="2816352"/>
            <a:ext cx="1874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1–2 sentence synthesis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4617720" y="3218688"/>
            <a:ext cx="4206240" cy="3474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4736592" y="3218688"/>
            <a:ext cx="2103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8C8C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D8C8C"/>
                </a:solidFill>
                <a:latin typeface="Calibri"/>
                <a:ea typeface="Calibri"/>
                <a:cs typeface="Calibri"/>
                <a:sym typeface="Calibri"/>
              </a:rPr>
              <a:t>outcome + sentiment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6858000" y="3218688"/>
            <a:ext cx="1874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positive / negative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/>
          <p:nvPr/>
        </p:nvSpPr>
        <p:spPr>
          <a:xfrm>
            <a:off x="4617720" y="3621024"/>
            <a:ext cx="4206240" cy="3474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4736592" y="3621024"/>
            <a:ext cx="2103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8C8C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D8C8C"/>
                </a:solidFill>
                <a:latin typeface="Calibri"/>
                <a:ea typeface="Calibri"/>
                <a:cs typeface="Calibri"/>
                <a:sym typeface="Calibri"/>
              </a:rPr>
              <a:t>has_outcome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6858000" y="3621024"/>
            <a:ext cx="1874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i="1"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boolean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4617720" y="4023360"/>
            <a:ext cx="4206240" cy="3474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4736592" y="4023360"/>
            <a:ext cx="2103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8C8C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D8C8C"/>
                </a:solidFill>
                <a:latin typeface="Calibri"/>
                <a:ea typeface="Calibri"/>
                <a:cs typeface="Calibri"/>
                <a:sym typeface="Calibri"/>
              </a:rPr>
              <a:t>salary_mentioned / location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6858000" y="4023360"/>
            <a:ext cx="1874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i="1"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string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7452360" y="201168"/>
            <a:ext cx="1371600" cy="292500"/>
          </a:xfrm>
          <a:prstGeom prst="roundRect">
            <a:avLst>
              <a:gd fmla="val 50000" name="adj"/>
            </a:avLst>
          </a:prstGeom>
          <a:solidFill>
            <a:srgbClr val="E4572E"/>
          </a:solidFill>
          <a:ln cap="flat" cmpd="sng" w="12700">
            <a:solidFill>
              <a:srgbClr val="E457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7452360" y="201168"/>
            <a:ext cx="1371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David</a:t>
            </a:r>
            <a:endParaRPr sz="1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e045118868_2_49"/>
          <p:cNvSpPr/>
          <p:nvPr/>
        </p:nvSpPr>
        <p:spPr>
          <a:xfrm>
            <a:off x="0" y="0"/>
            <a:ext cx="9144000" cy="658500"/>
          </a:xfrm>
          <a:prstGeom prst="rect">
            <a:avLst/>
          </a:prstGeom>
          <a:solidFill>
            <a:srgbClr val="1A2744"/>
          </a:solidFill>
          <a:ln cap="flat" cmpd="sng" w="12700">
            <a:solidFill>
              <a:srgbClr val="1A27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g3e045118868_2_49"/>
          <p:cNvSpPr/>
          <p:nvPr/>
        </p:nvSpPr>
        <p:spPr>
          <a:xfrm>
            <a:off x="320040" y="0"/>
            <a:ext cx="68580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Phase 3 - Knowledge Graph Construction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g3e045118868_2_49"/>
          <p:cNvSpPr/>
          <p:nvPr/>
        </p:nvSpPr>
        <p:spPr>
          <a:xfrm>
            <a:off x="274325" y="838725"/>
            <a:ext cx="3564000" cy="3621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g3e045118868_2_49"/>
          <p:cNvSpPr/>
          <p:nvPr/>
        </p:nvSpPr>
        <p:spPr>
          <a:xfrm>
            <a:off x="7452360" y="201168"/>
            <a:ext cx="1371600" cy="292500"/>
          </a:xfrm>
          <a:prstGeom prst="roundRect">
            <a:avLst>
              <a:gd fmla="val 50000" name="adj"/>
            </a:avLst>
          </a:prstGeom>
          <a:solidFill>
            <a:srgbClr val="E4572E"/>
          </a:solidFill>
          <a:ln cap="flat" cmpd="sng" w="12700">
            <a:solidFill>
              <a:srgbClr val="E457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g3e045118868_2_49"/>
          <p:cNvSpPr/>
          <p:nvPr/>
        </p:nvSpPr>
        <p:spPr>
          <a:xfrm>
            <a:off x="7452360" y="201168"/>
            <a:ext cx="1371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Leslieane</a:t>
            </a:r>
            <a:endParaRPr sz="1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g3e045118868_2_49"/>
          <p:cNvSpPr txBox="1"/>
          <p:nvPr/>
        </p:nvSpPr>
        <p:spPr>
          <a:xfrm>
            <a:off x="905400" y="1360850"/>
            <a:ext cx="2082900" cy="18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g3e045118868_2_49"/>
          <p:cNvSpPr txBox="1"/>
          <p:nvPr/>
        </p:nvSpPr>
        <p:spPr>
          <a:xfrm>
            <a:off x="649800" y="964175"/>
            <a:ext cx="2949600" cy="29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10,946 nodes | 12,421 edges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D8C8C"/>
                </a:solidFill>
                <a:latin typeface="Calibri"/>
                <a:ea typeface="Calibri"/>
                <a:cs typeface="Calibri"/>
                <a:sym typeface="Calibri"/>
              </a:rPr>
              <a:t>Node types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D8C8C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CareerSituation (1,897):  one per Reddit post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D8C8C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Advice (1,897): what people were told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D8C8C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Constraint (5,684): challenges people mentioned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D8C8C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Outcome (467): posts where OP shared what actually happened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D8C8C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Role (991) + ProblemType (10)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Edges connect situations to their advice, constraints, outcomes, and similar posts via OpenAI embeddings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4" name="Google Shape;164;g3e045118868_2_49" title="download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8550" y="1488600"/>
            <a:ext cx="4895201" cy="24317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e045118868_2_83"/>
          <p:cNvSpPr/>
          <p:nvPr/>
        </p:nvSpPr>
        <p:spPr>
          <a:xfrm>
            <a:off x="0" y="0"/>
            <a:ext cx="9144000" cy="658500"/>
          </a:xfrm>
          <a:prstGeom prst="rect">
            <a:avLst/>
          </a:prstGeom>
          <a:solidFill>
            <a:srgbClr val="1A2744"/>
          </a:solidFill>
          <a:ln cap="flat" cmpd="sng" w="12700">
            <a:solidFill>
              <a:srgbClr val="1A27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g3e045118868_2_83"/>
          <p:cNvSpPr/>
          <p:nvPr/>
        </p:nvSpPr>
        <p:spPr>
          <a:xfrm>
            <a:off x="320040" y="0"/>
            <a:ext cx="68580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Phase 3 - Knowledge Graph Findings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g3e045118868_2_83"/>
          <p:cNvSpPr/>
          <p:nvPr/>
        </p:nvSpPr>
        <p:spPr>
          <a:xfrm>
            <a:off x="220525" y="860223"/>
            <a:ext cx="3730500" cy="1688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g3e045118868_2_83"/>
          <p:cNvSpPr/>
          <p:nvPr/>
        </p:nvSpPr>
        <p:spPr>
          <a:xfrm>
            <a:off x="7452360" y="201168"/>
            <a:ext cx="1371600" cy="292500"/>
          </a:xfrm>
          <a:prstGeom prst="roundRect">
            <a:avLst>
              <a:gd fmla="val 50000" name="adj"/>
            </a:avLst>
          </a:prstGeom>
          <a:solidFill>
            <a:srgbClr val="E4572E"/>
          </a:solidFill>
          <a:ln cap="flat" cmpd="sng" w="12700">
            <a:solidFill>
              <a:srgbClr val="E457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g3e045118868_2_83"/>
          <p:cNvSpPr/>
          <p:nvPr/>
        </p:nvSpPr>
        <p:spPr>
          <a:xfrm>
            <a:off x="7452360" y="201168"/>
            <a:ext cx="1371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Leslieane </a:t>
            </a:r>
            <a:endParaRPr sz="1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g3e045118868_2_83"/>
          <p:cNvSpPr/>
          <p:nvPr/>
        </p:nvSpPr>
        <p:spPr>
          <a:xfrm>
            <a:off x="165675" y="2716175"/>
            <a:ext cx="3905700" cy="2155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6" name="Google Shape;176;g3e045118868_2_83" title="download-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4200" y="1207725"/>
            <a:ext cx="4769750" cy="3056227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7" name="Google Shape;177;g3e045118868_2_83"/>
          <p:cNvSpPr txBox="1"/>
          <p:nvPr/>
        </p:nvSpPr>
        <p:spPr>
          <a:xfrm>
            <a:off x="427700" y="983150"/>
            <a:ext cx="3271500" cy="13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200">
                <a:solidFill>
                  <a:srgbClr val="0D8C8C"/>
                </a:solidFill>
                <a:latin typeface="Calibri"/>
                <a:ea typeface="Calibri"/>
                <a:cs typeface="Calibri"/>
                <a:sym typeface="Calibri"/>
              </a:rPr>
              <a:t>What the graph showed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D8C8C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Burnout is the #1 constraint pulling people toward career changes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D8C8C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64.9% of reported outcomes were positive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D8C8C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Job searching (462 posts) dominates over actually switching careers (288)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g3e045118868_2_83"/>
          <p:cNvSpPr txBox="1"/>
          <p:nvPr/>
        </p:nvSpPr>
        <p:spPr>
          <a:xfrm>
            <a:off x="360525" y="2797550"/>
            <a:ext cx="3371700" cy="14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200">
                <a:solidFill>
                  <a:srgbClr val="0D8C8C"/>
                </a:solidFill>
                <a:latin typeface="Calibri"/>
                <a:ea typeface="Calibri"/>
                <a:cs typeface="Calibri"/>
                <a:sym typeface="Calibri"/>
              </a:rPr>
              <a:t>But worth noting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D8C8C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Reporting Bias: the 64.9% is likely inflated. People are way more likely to post "I got the job!" than "still unemployed."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D8C8C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Isolated nodes: viral posts got no similar neighbors, graph works best for personal situation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Future fix: filter out viral/news posts before the similarity step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8"/>
          <p:cNvSpPr/>
          <p:nvPr/>
        </p:nvSpPr>
        <p:spPr>
          <a:xfrm>
            <a:off x="2746225" y="1718801"/>
            <a:ext cx="6006600" cy="5484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/>
              <a:t>Converts user’s situation </a:t>
            </a:r>
            <a:r>
              <a:rPr lang="en-US" sz="1300"/>
              <a:t>into a vector to match meaning</a:t>
            </a:r>
            <a:endParaRPr sz="1300"/>
          </a:p>
        </p:txBody>
      </p:sp>
      <p:sp>
        <p:nvSpPr>
          <p:cNvPr id="185" name="Google Shape;185;p8"/>
          <p:cNvSpPr/>
          <p:nvPr/>
        </p:nvSpPr>
        <p:spPr>
          <a:xfrm>
            <a:off x="320050" y="3026961"/>
            <a:ext cx="1557600" cy="5484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/>
              <a:t>Traverse</a:t>
            </a:r>
            <a:r>
              <a:rPr b="1" i="1" lang="en-US"/>
              <a:t> Graph</a:t>
            </a:r>
            <a:endParaRPr b="1" i="1"/>
          </a:p>
        </p:txBody>
      </p:sp>
      <p:sp>
        <p:nvSpPr>
          <p:cNvPr id="186" name="Google Shape;186;p8"/>
          <p:cNvSpPr/>
          <p:nvPr/>
        </p:nvSpPr>
        <p:spPr>
          <a:xfrm>
            <a:off x="365707" y="734875"/>
            <a:ext cx="2380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Pipeline Architecture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0" y="0"/>
            <a:ext cx="9144000" cy="658500"/>
          </a:xfrm>
          <a:prstGeom prst="rect">
            <a:avLst/>
          </a:prstGeom>
          <a:solidFill>
            <a:srgbClr val="1A2744"/>
          </a:solidFill>
          <a:ln cap="flat" cmpd="sng" w="12700">
            <a:solidFill>
              <a:srgbClr val="1A27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320040" y="0"/>
            <a:ext cx="68580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4 - </a:t>
            </a: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GraphRAG QA Pi</a:t>
            </a: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peline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320050" y="1063975"/>
            <a:ext cx="1557600" cy="548400"/>
          </a:xfrm>
          <a:prstGeom prst="roundRect">
            <a:avLst>
              <a:gd fmla="val 16667" name="adj"/>
            </a:avLst>
          </a:prstGeom>
          <a:solidFill>
            <a:srgbClr val="14B8A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/>
              <a:t>User Input</a:t>
            </a:r>
            <a:endParaRPr b="1" i="1"/>
          </a:p>
        </p:txBody>
      </p:sp>
      <p:sp>
        <p:nvSpPr>
          <p:cNvPr id="190" name="Google Shape;190;p8"/>
          <p:cNvSpPr/>
          <p:nvPr/>
        </p:nvSpPr>
        <p:spPr>
          <a:xfrm>
            <a:off x="320050" y="1718304"/>
            <a:ext cx="1557600" cy="5484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/>
              <a:t>Embed Query</a:t>
            </a:r>
            <a:endParaRPr b="1" i="1"/>
          </a:p>
        </p:txBody>
      </p:sp>
      <p:sp>
        <p:nvSpPr>
          <p:cNvPr id="191" name="Google Shape;191;p8"/>
          <p:cNvSpPr/>
          <p:nvPr/>
        </p:nvSpPr>
        <p:spPr>
          <a:xfrm>
            <a:off x="320050" y="2372632"/>
            <a:ext cx="1557600" cy="548400"/>
          </a:xfrm>
          <a:prstGeom prst="roundRect">
            <a:avLst>
              <a:gd fmla="val 16667" name="adj"/>
            </a:avLst>
          </a:prstGeom>
          <a:solidFill>
            <a:srgbClr val="14B8A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/>
              <a:t>Find Similar Nodes</a:t>
            </a:r>
            <a:endParaRPr b="1" i="1"/>
          </a:p>
        </p:txBody>
      </p:sp>
      <p:sp>
        <p:nvSpPr>
          <p:cNvPr id="192" name="Google Shape;192;p8"/>
          <p:cNvSpPr/>
          <p:nvPr/>
        </p:nvSpPr>
        <p:spPr>
          <a:xfrm>
            <a:off x="320050" y="3657063"/>
            <a:ext cx="1557600" cy="572700"/>
          </a:xfrm>
          <a:prstGeom prst="roundRect">
            <a:avLst>
              <a:gd fmla="val 16667" name="adj"/>
            </a:avLst>
          </a:prstGeom>
          <a:solidFill>
            <a:srgbClr val="14B8A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350"/>
              <a:t>Build Grounded Prompt Design</a:t>
            </a:r>
            <a:endParaRPr b="1" i="1" sz="1350"/>
          </a:p>
        </p:txBody>
      </p:sp>
      <p:cxnSp>
        <p:nvCxnSpPr>
          <p:cNvPr id="193" name="Google Shape;193;p8"/>
          <p:cNvCxnSpPr/>
          <p:nvPr/>
        </p:nvCxnSpPr>
        <p:spPr>
          <a:xfrm flipH="1">
            <a:off x="2283900" y="1063975"/>
            <a:ext cx="11100" cy="38211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94" name="Google Shape;194;p8"/>
          <p:cNvSpPr/>
          <p:nvPr/>
        </p:nvSpPr>
        <p:spPr>
          <a:xfrm>
            <a:off x="7452360" y="201168"/>
            <a:ext cx="1371600" cy="292500"/>
          </a:xfrm>
          <a:prstGeom prst="roundRect">
            <a:avLst>
              <a:gd fmla="val 50000" name="adj"/>
            </a:avLst>
          </a:prstGeom>
          <a:solidFill>
            <a:srgbClr val="E4572E"/>
          </a:solidFill>
          <a:ln cap="flat" cmpd="sng" w="12700">
            <a:solidFill>
              <a:srgbClr val="E457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7452360" y="201168"/>
            <a:ext cx="1371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Jenn</a:t>
            </a:r>
            <a:endParaRPr sz="1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320050" y="4335661"/>
            <a:ext cx="1557600" cy="5484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>
                <a:solidFill>
                  <a:schemeClr val="dk1"/>
                </a:solidFill>
              </a:rPr>
              <a:t>Generate Answer (LLM)</a:t>
            </a:r>
            <a:endParaRPr b="1" i="1"/>
          </a:p>
        </p:txBody>
      </p:sp>
      <p:sp>
        <p:nvSpPr>
          <p:cNvPr id="197" name="Google Shape;197;p8"/>
          <p:cNvSpPr/>
          <p:nvPr/>
        </p:nvSpPr>
        <p:spPr>
          <a:xfrm>
            <a:off x="2746225" y="3027454"/>
            <a:ext cx="6006600" cy="5484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/>
              <a:t>Pull linked advice, constraints, problems, and outcomes from those situations</a:t>
            </a:r>
            <a:endParaRPr sz="1300"/>
          </a:p>
        </p:txBody>
      </p:sp>
      <p:sp>
        <p:nvSpPr>
          <p:cNvPr id="198" name="Google Shape;198;p8"/>
          <p:cNvSpPr/>
          <p:nvPr/>
        </p:nvSpPr>
        <p:spPr>
          <a:xfrm>
            <a:off x="2746225" y="1064475"/>
            <a:ext cx="6006600" cy="5484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D8C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/>
              <a:t>User describes career situation to query patterns from real Reddit experiences</a:t>
            </a:r>
            <a:endParaRPr sz="1300"/>
          </a:p>
        </p:txBody>
      </p:sp>
      <p:sp>
        <p:nvSpPr>
          <p:cNvPr id="199" name="Google Shape;199;p8"/>
          <p:cNvSpPr/>
          <p:nvPr/>
        </p:nvSpPr>
        <p:spPr>
          <a:xfrm>
            <a:off x="2746225" y="2373128"/>
            <a:ext cx="6006600" cy="5484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D8C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/>
              <a:t>Retrieve past CareerSituation nodes that represent similar real world scenarios</a:t>
            </a:r>
            <a:endParaRPr sz="1300"/>
          </a:p>
        </p:txBody>
      </p:sp>
      <p:sp>
        <p:nvSpPr>
          <p:cNvPr id="200" name="Google Shape;200;p8"/>
          <p:cNvSpPr/>
          <p:nvPr/>
        </p:nvSpPr>
        <p:spPr>
          <a:xfrm>
            <a:off x="2746225" y="3681781"/>
            <a:ext cx="6006600" cy="5484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D8C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/>
              <a:t>Structure the retrieved evidence into a constraint-aware, data only prompt</a:t>
            </a:r>
            <a:endParaRPr sz="1300"/>
          </a:p>
        </p:txBody>
      </p:sp>
      <p:sp>
        <p:nvSpPr>
          <p:cNvPr id="201" name="Google Shape;201;p8"/>
          <p:cNvSpPr/>
          <p:nvPr/>
        </p:nvSpPr>
        <p:spPr>
          <a:xfrm>
            <a:off x="2746225" y="4336150"/>
            <a:ext cx="6006600" cy="5484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</a:rPr>
              <a:t>Synthesize patterns across real cases into actional, evidence-</a:t>
            </a:r>
            <a:r>
              <a:rPr lang="en-US" sz="1300">
                <a:solidFill>
                  <a:schemeClr val="dk1"/>
                </a:solidFill>
              </a:rPr>
              <a:t>based</a:t>
            </a:r>
            <a:r>
              <a:rPr lang="en-US" sz="1300">
                <a:solidFill>
                  <a:schemeClr val="dk1"/>
                </a:solidFill>
              </a:rPr>
              <a:t> career guidance</a:t>
            </a:r>
            <a:endParaRPr sz="13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9"/>
          <p:cNvSpPr/>
          <p:nvPr/>
        </p:nvSpPr>
        <p:spPr>
          <a:xfrm>
            <a:off x="5627025" y="3381099"/>
            <a:ext cx="3242700" cy="1600200"/>
          </a:xfrm>
          <a:prstGeom prst="rect">
            <a:avLst/>
          </a:prstGeom>
          <a:solidFill>
            <a:srgbClr val="B4A7D6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t/>
            </a:r>
            <a:endParaRPr sz="9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t/>
            </a:r>
            <a:endParaRPr sz="9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 u="sng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What People Did</a:t>
            </a:r>
            <a:r>
              <a:rPr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: Pivoted into more specialized or strategic roles, sought stability and better work-life balance</a:t>
            </a:r>
            <a:endParaRPr sz="9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 u="sng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What Worked/Didn’t</a:t>
            </a:r>
            <a:r>
              <a:rPr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: Leveraging transferable skills, networking &amp; researching target roles; no specialization in skillset</a:t>
            </a:r>
            <a:endParaRPr sz="9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 u="sng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Key constraints</a:t>
            </a:r>
            <a:r>
              <a:rPr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: Lack of direct experience, burnout and fear of being stuck </a:t>
            </a:r>
            <a:endParaRPr sz="9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t/>
            </a:r>
            <a:endParaRPr sz="9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 u="sng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Actionable Advice</a:t>
            </a:r>
            <a:r>
              <a:rPr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: Identify transferable skills, build relevant experience, expect short term trade offs when switching fields</a:t>
            </a:r>
            <a:endParaRPr sz="9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274325" y="3390195"/>
            <a:ext cx="2391000" cy="160020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09" name="Google Shape;209;p9"/>
          <p:cNvSpPr/>
          <p:nvPr/>
        </p:nvSpPr>
        <p:spPr>
          <a:xfrm>
            <a:off x="274325" y="1236500"/>
            <a:ext cx="2391000" cy="160020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9"/>
          <p:cNvSpPr/>
          <p:nvPr/>
        </p:nvSpPr>
        <p:spPr>
          <a:xfrm>
            <a:off x="2742026" y="3381107"/>
            <a:ext cx="2808300" cy="16002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 u="sng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Matched problem type</a:t>
            </a:r>
            <a:r>
              <a:rPr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career_switch</a:t>
            </a:r>
            <a:endParaRPr sz="9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 u="sng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Constraints</a:t>
            </a:r>
            <a:r>
              <a:rPr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: not_enough_experience, lack_of_work_life_balance</a:t>
            </a:r>
            <a:endParaRPr sz="9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 u="sng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Advice node:</a:t>
            </a:r>
            <a:r>
              <a:rPr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show lateral-pivot patterns across roles</a:t>
            </a:r>
            <a:endParaRPr sz="9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 u="sng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Outcomes</a:t>
            </a:r>
            <a:r>
              <a:rPr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: sparse / limited</a:t>
            </a:r>
            <a:endParaRPr sz="9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t/>
            </a:r>
            <a:endParaRPr sz="9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2742026" y="1227418"/>
            <a:ext cx="2808300" cy="16002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9"/>
          <p:cNvSpPr/>
          <p:nvPr/>
        </p:nvSpPr>
        <p:spPr>
          <a:xfrm>
            <a:off x="5627025" y="1227400"/>
            <a:ext cx="3242700" cy="16002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t/>
            </a:r>
            <a:endParaRPr sz="9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t/>
            </a:r>
            <a:endParaRPr sz="9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 u="sng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What People Did</a:t>
            </a:r>
            <a:r>
              <a:rPr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: Focused on improving skills, considered pivoting careers, Sought advice during job search struggles</a:t>
            </a:r>
            <a:endParaRPr sz="9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 u="sng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What Worked/Didn’t</a:t>
            </a:r>
            <a:r>
              <a:rPr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: Networking and mentorship, pivoting without preparation, passive frustration with market conditions</a:t>
            </a:r>
            <a:endParaRPr sz="9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 u="sng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Key Constraints</a:t>
            </a:r>
            <a:r>
              <a:rPr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: market conditions, further education</a:t>
            </a:r>
            <a:endParaRPr sz="9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t/>
            </a:r>
            <a:endParaRPr sz="9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 u="sng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Actionable Advice</a:t>
            </a:r>
            <a:r>
              <a:rPr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: Strengthen skills, stay proactive, and manage job search strategically despite market challenges</a:t>
            </a:r>
            <a:endParaRPr sz="9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9"/>
          <p:cNvSpPr/>
          <p:nvPr/>
        </p:nvSpPr>
        <p:spPr>
          <a:xfrm>
            <a:off x="0" y="0"/>
            <a:ext cx="9144000" cy="658500"/>
          </a:xfrm>
          <a:prstGeom prst="rect">
            <a:avLst/>
          </a:prstGeom>
          <a:solidFill>
            <a:srgbClr val="1A2744"/>
          </a:solidFill>
          <a:ln cap="flat" cmpd="sng" w="12700">
            <a:solidFill>
              <a:srgbClr val="1A27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320040" y="0"/>
            <a:ext cx="68580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GraphRAG in Action </a:t>
            </a: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Example Queries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274320" y="822960"/>
            <a:ext cx="8595360" cy="384048"/>
          </a:xfrm>
          <a:prstGeom prst="rect">
            <a:avLst/>
          </a:prstGeom>
          <a:solidFill>
            <a:srgbClr val="0D8C8C"/>
          </a:solidFill>
          <a:ln cap="flat" cmpd="sng" w="12700">
            <a:solidFill>
              <a:srgbClr val="0D8C8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9"/>
          <p:cNvSpPr/>
          <p:nvPr/>
        </p:nvSpPr>
        <p:spPr>
          <a:xfrm>
            <a:off x="411480" y="822960"/>
            <a:ext cx="8321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JOB SEARCH EXAMPLE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9"/>
          <p:cNvSpPr/>
          <p:nvPr/>
        </p:nvSpPr>
        <p:spPr>
          <a:xfrm>
            <a:off x="2798053" y="1274700"/>
            <a:ext cx="2391000" cy="2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AA84F"/>
                </a:solidFill>
                <a:latin typeface="Calibri"/>
                <a:ea typeface="Calibri"/>
                <a:cs typeface="Calibri"/>
                <a:sym typeface="Calibri"/>
              </a:rPr>
              <a:t>Graph Context Retrieved</a:t>
            </a:r>
            <a:endParaRPr b="0" i="0" sz="1000" u="none" cap="none" strike="noStrike">
              <a:solidFill>
                <a:srgbClr val="6AA8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9"/>
          <p:cNvSpPr/>
          <p:nvPr/>
        </p:nvSpPr>
        <p:spPr>
          <a:xfrm>
            <a:off x="2777375" y="1563525"/>
            <a:ext cx="27729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 u="sng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Matched problem type</a:t>
            </a:r>
            <a:r>
              <a:rPr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: job_search</a:t>
            </a:r>
            <a:endParaRPr sz="9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 u="sng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Common constraints</a:t>
            </a:r>
            <a:r>
              <a:rPr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: laid_off, wants_to_grow_expertise_actively, varied_interview_requirements</a:t>
            </a:r>
            <a:endParaRPr sz="9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 u="sng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Advice node:</a:t>
            </a:r>
            <a:r>
              <a:rPr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focused on skill-building and career navigation</a:t>
            </a:r>
            <a:endParaRPr sz="9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 u="sng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Outcomes</a:t>
            </a:r>
            <a:r>
              <a:rPr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: sparse / limited</a:t>
            </a:r>
            <a:endParaRPr sz="9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9"/>
          <p:cNvSpPr/>
          <p:nvPr/>
        </p:nvSpPr>
        <p:spPr>
          <a:xfrm>
            <a:off x="5706736" y="1251745"/>
            <a:ext cx="2994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74E13"/>
                </a:solidFill>
                <a:latin typeface="Calibri"/>
                <a:ea typeface="Calibri"/>
                <a:cs typeface="Calibri"/>
                <a:sym typeface="Calibri"/>
              </a:rPr>
              <a:t>Synthesized Answer</a:t>
            </a:r>
            <a:endParaRPr b="0" i="0" sz="1000" u="none" cap="none" strike="noStrike">
              <a:solidFill>
                <a:srgbClr val="274E1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9"/>
          <p:cNvSpPr/>
          <p:nvPr/>
        </p:nvSpPr>
        <p:spPr>
          <a:xfrm>
            <a:off x="274320" y="2971800"/>
            <a:ext cx="8595360" cy="384048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411480" y="2971800"/>
            <a:ext cx="8321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CAREER SWITCH EXAMPLE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9"/>
          <p:cNvSpPr/>
          <p:nvPr/>
        </p:nvSpPr>
        <p:spPr>
          <a:xfrm>
            <a:off x="2798054" y="3385694"/>
            <a:ext cx="1999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8E7CC3"/>
                </a:solidFill>
                <a:latin typeface="Calibri"/>
                <a:ea typeface="Calibri"/>
                <a:cs typeface="Calibri"/>
                <a:sym typeface="Calibri"/>
              </a:rPr>
              <a:t>Graph Context Retrieved</a:t>
            </a:r>
            <a:endParaRPr b="0" i="0" sz="1000" u="none" cap="none" strike="noStrike">
              <a:solidFill>
                <a:srgbClr val="8E7CC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5706767" y="3408648"/>
            <a:ext cx="2994000" cy="2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351C75"/>
                </a:solidFill>
                <a:latin typeface="Calibri"/>
                <a:ea typeface="Calibri"/>
                <a:cs typeface="Calibri"/>
                <a:sym typeface="Calibri"/>
              </a:rPr>
              <a:t>Synthesized Answer</a:t>
            </a:r>
            <a:endParaRPr b="0" i="0" sz="1000" u="none" cap="none" strike="noStrike">
              <a:solidFill>
                <a:srgbClr val="351C7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9"/>
          <p:cNvSpPr/>
          <p:nvPr/>
        </p:nvSpPr>
        <p:spPr>
          <a:xfrm>
            <a:off x="7452360" y="201168"/>
            <a:ext cx="1371600" cy="292500"/>
          </a:xfrm>
          <a:prstGeom prst="roundRect">
            <a:avLst>
              <a:gd fmla="val 50000" name="adj"/>
            </a:avLst>
          </a:prstGeom>
          <a:solidFill>
            <a:srgbClr val="E4572E"/>
          </a:solidFill>
          <a:ln cap="flat" cmpd="sng" w="12700">
            <a:solidFill>
              <a:srgbClr val="E457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7452360" y="201168"/>
            <a:ext cx="1371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Jenn</a:t>
            </a:r>
            <a:endParaRPr sz="1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9"/>
          <p:cNvSpPr/>
          <p:nvPr/>
        </p:nvSpPr>
        <p:spPr>
          <a:xfrm>
            <a:off x="320050" y="1526488"/>
            <a:ext cx="2391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“ I’m looking for a software engineering job”</a:t>
            </a:r>
            <a:endParaRPr sz="9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t/>
            </a:r>
            <a:endParaRPr sz="9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9"/>
          <p:cNvSpPr/>
          <p:nvPr/>
        </p:nvSpPr>
        <p:spPr>
          <a:xfrm>
            <a:off x="386377" y="1274700"/>
            <a:ext cx="2391000" cy="2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6AA84F"/>
                </a:solidFill>
                <a:latin typeface="Calibri"/>
                <a:ea typeface="Calibri"/>
                <a:cs typeface="Calibri"/>
                <a:sym typeface="Calibri"/>
              </a:rPr>
              <a:t>Query</a:t>
            </a:r>
            <a:endParaRPr b="0" i="0" sz="1000" u="none" cap="none" strike="noStrike">
              <a:solidFill>
                <a:srgbClr val="6AA8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9"/>
          <p:cNvSpPr/>
          <p:nvPr/>
        </p:nvSpPr>
        <p:spPr>
          <a:xfrm>
            <a:off x="386377" y="3385694"/>
            <a:ext cx="1999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8E7CC3"/>
                </a:solidFill>
                <a:latin typeface="Calibri"/>
                <a:ea typeface="Calibri"/>
                <a:cs typeface="Calibri"/>
                <a:sym typeface="Calibri"/>
              </a:rPr>
              <a:t>Query</a:t>
            </a:r>
            <a:endParaRPr b="0" i="0" sz="1000" u="none" cap="none" strike="noStrike">
              <a:solidFill>
                <a:srgbClr val="8E7CC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9"/>
          <p:cNvSpPr/>
          <p:nvPr/>
        </p:nvSpPr>
        <p:spPr>
          <a:xfrm>
            <a:off x="386377" y="1751755"/>
            <a:ext cx="2391000" cy="2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6AA84F"/>
                </a:solidFill>
                <a:latin typeface="Calibri"/>
                <a:ea typeface="Calibri"/>
                <a:cs typeface="Calibri"/>
                <a:sym typeface="Calibri"/>
              </a:rPr>
              <a:t>Similar Situations (0.58 - 0.54)</a:t>
            </a:r>
            <a:endParaRPr b="0" i="0" sz="1000" u="none" cap="none" strike="noStrike">
              <a:solidFill>
                <a:srgbClr val="6AA8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9"/>
          <p:cNvSpPr/>
          <p:nvPr/>
        </p:nvSpPr>
        <p:spPr>
          <a:xfrm>
            <a:off x="386377" y="3865044"/>
            <a:ext cx="1999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8E7CC3"/>
                </a:solidFill>
                <a:latin typeface="Calibri"/>
                <a:ea typeface="Calibri"/>
                <a:cs typeface="Calibri"/>
                <a:sym typeface="Calibri"/>
              </a:rPr>
              <a:t>Similar Situations (0.55 - 0.46)</a:t>
            </a:r>
            <a:endParaRPr b="0" i="0" sz="1000" u="none" cap="none" strike="noStrike">
              <a:solidFill>
                <a:srgbClr val="8E7CC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9"/>
          <p:cNvSpPr/>
          <p:nvPr/>
        </p:nvSpPr>
        <p:spPr>
          <a:xfrm>
            <a:off x="335375" y="3655250"/>
            <a:ext cx="2184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“I want to switch from manufacturing to marketing”</a:t>
            </a:r>
            <a:endParaRPr sz="9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t/>
            </a:r>
            <a:endParaRPr sz="9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279725" y="2010700"/>
            <a:ext cx="22962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Char char="●"/>
            </a:pPr>
            <a:r>
              <a:rPr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Advice for aspiring SWE</a:t>
            </a:r>
            <a:endParaRPr sz="9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Char char="●"/>
            </a:pPr>
            <a:r>
              <a:rPr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Leveling up as a SWE</a:t>
            </a:r>
            <a:endParaRPr sz="9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Char char="●"/>
            </a:pPr>
            <a:r>
              <a:rPr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Burnout &amp; loss of motivation</a:t>
            </a:r>
            <a:endParaRPr sz="9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224175" y="4112725"/>
            <a:ext cx="22962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85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Char char="●"/>
            </a:pPr>
            <a:r>
              <a:rPr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Different educational background</a:t>
            </a:r>
            <a:endParaRPr sz="9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Char char="●"/>
            </a:pPr>
            <a:r>
              <a:rPr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Switching industries entirely</a:t>
            </a:r>
            <a:endParaRPr sz="9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Char char="●"/>
            </a:pPr>
            <a:r>
              <a:rPr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Burnout &amp; loss of motivation</a:t>
            </a:r>
            <a:endParaRPr sz="9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744"/>
          </a:solidFill>
          <a:ln cap="flat" cmpd="sng" w="12700">
            <a:solidFill>
              <a:srgbClr val="1A27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0"/>
          <p:cNvSpPr/>
          <p:nvPr/>
        </p:nvSpPr>
        <p:spPr>
          <a:xfrm>
            <a:off x="320040" y="0"/>
            <a:ext cx="68580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Results &amp; Key Contributions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0"/>
          <p:cNvSpPr/>
          <p:nvPr/>
        </p:nvSpPr>
        <p:spPr>
          <a:xfrm>
            <a:off x="274320" y="822960"/>
            <a:ext cx="4251960" cy="19202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10"/>
          <p:cNvSpPr/>
          <p:nvPr/>
        </p:nvSpPr>
        <p:spPr>
          <a:xfrm>
            <a:off x="274320" y="822960"/>
            <a:ext cx="4251960" cy="438912"/>
          </a:xfrm>
          <a:prstGeom prst="rect">
            <a:avLst/>
          </a:prstGeom>
          <a:solidFill>
            <a:srgbClr val="1A2744"/>
          </a:solidFill>
          <a:ln cap="flat" cmpd="sng" w="12700">
            <a:solidFill>
              <a:srgbClr val="1A27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10"/>
          <p:cNvSpPr/>
          <p:nvPr/>
        </p:nvSpPr>
        <p:spPr>
          <a:xfrm>
            <a:off x="384048" y="822960"/>
            <a:ext cx="40233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Pipeline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0"/>
          <p:cNvSpPr/>
          <p:nvPr/>
        </p:nvSpPr>
        <p:spPr>
          <a:xfrm>
            <a:off x="411480" y="1325880"/>
            <a:ext cx="397764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aw Reddit text</a:t>
            </a: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to </a:t>
            </a: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structured graph in 4 automated phases. 1,897 posts processed with LLM extraction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0"/>
          <p:cNvSpPr/>
          <p:nvPr/>
        </p:nvSpPr>
        <p:spPr>
          <a:xfrm>
            <a:off x="4709160" y="822960"/>
            <a:ext cx="4251960" cy="19202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10"/>
          <p:cNvSpPr/>
          <p:nvPr/>
        </p:nvSpPr>
        <p:spPr>
          <a:xfrm>
            <a:off x="4709160" y="822960"/>
            <a:ext cx="4251960" cy="438912"/>
          </a:xfrm>
          <a:prstGeom prst="rect">
            <a:avLst/>
          </a:prstGeom>
          <a:solidFill>
            <a:srgbClr val="0D8C8C"/>
          </a:solidFill>
          <a:ln cap="flat" cmpd="sng" w="12700">
            <a:solidFill>
              <a:srgbClr val="0D8C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0"/>
          <p:cNvSpPr/>
          <p:nvPr/>
        </p:nvSpPr>
        <p:spPr>
          <a:xfrm>
            <a:off x="4818888" y="822960"/>
            <a:ext cx="40233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Career Knowledge Graph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0"/>
          <p:cNvSpPr/>
          <p:nvPr/>
        </p:nvSpPr>
        <p:spPr>
          <a:xfrm>
            <a:off x="4846320" y="1325880"/>
            <a:ext cx="397764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10,946-node graph capturing roles, problems, constraints, advice, and outcomes with typed edges enabling structured traversal.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0"/>
          <p:cNvSpPr/>
          <p:nvPr/>
        </p:nvSpPr>
        <p:spPr>
          <a:xfrm>
            <a:off x="274320" y="2880360"/>
            <a:ext cx="4251960" cy="19202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0"/>
          <p:cNvSpPr/>
          <p:nvPr/>
        </p:nvSpPr>
        <p:spPr>
          <a:xfrm>
            <a:off x="274320" y="2880360"/>
            <a:ext cx="4251960" cy="438912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0"/>
          <p:cNvSpPr/>
          <p:nvPr/>
        </p:nvSpPr>
        <p:spPr>
          <a:xfrm>
            <a:off x="384048" y="2880360"/>
            <a:ext cx="40233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Semantic Similarity Layer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0"/>
          <p:cNvSpPr/>
          <p:nvPr/>
        </p:nvSpPr>
        <p:spPr>
          <a:xfrm>
            <a:off x="411480" y="3383280"/>
            <a:ext cx="397764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We used e</a:t>
            </a: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mbedding-based SIMILAR_SITUATION edges connect semantically related career posts beyond keyword overlap using 1,536-dim vectors.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0"/>
          <p:cNvSpPr/>
          <p:nvPr/>
        </p:nvSpPr>
        <p:spPr>
          <a:xfrm>
            <a:off x="4709160" y="2880360"/>
            <a:ext cx="4251960" cy="19202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0"/>
          <p:cNvSpPr/>
          <p:nvPr/>
        </p:nvSpPr>
        <p:spPr>
          <a:xfrm>
            <a:off x="4709160" y="2880360"/>
            <a:ext cx="4251960" cy="438912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0"/>
          <p:cNvSpPr/>
          <p:nvPr/>
        </p:nvSpPr>
        <p:spPr>
          <a:xfrm>
            <a:off x="4818888" y="2880360"/>
            <a:ext cx="40233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Grounded GraphRAG Q&amp;A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0"/>
          <p:cNvSpPr/>
          <p:nvPr/>
        </p:nvSpPr>
        <p:spPr>
          <a:xfrm>
            <a:off x="4846320" y="3383280"/>
            <a:ext cx="397764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 s</a:t>
            </a: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ystem explicitly refuses to hallucinate when data is insufficient, ensuring trustworthiness.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0"/>
          <p:cNvSpPr/>
          <p:nvPr/>
        </p:nvSpPr>
        <p:spPr>
          <a:xfrm>
            <a:off x="7452360" y="201168"/>
            <a:ext cx="1371600" cy="292500"/>
          </a:xfrm>
          <a:prstGeom prst="roundRect">
            <a:avLst>
              <a:gd fmla="val 50000" name="adj"/>
            </a:avLst>
          </a:prstGeom>
          <a:solidFill>
            <a:srgbClr val="E4572E"/>
          </a:solidFill>
          <a:ln cap="flat" cmpd="sng" w="12700">
            <a:solidFill>
              <a:srgbClr val="E457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0"/>
          <p:cNvSpPr/>
          <p:nvPr/>
        </p:nvSpPr>
        <p:spPr>
          <a:xfrm>
            <a:off x="7452360" y="201168"/>
            <a:ext cx="1371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Aryan</a:t>
            </a:r>
            <a:endParaRPr sz="1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744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1"/>
          <p:cNvSpPr/>
          <p:nvPr/>
        </p:nvSpPr>
        <p:spPr>
          <a:xfrm>
            <a:off x="0" y="3877050"/>
            <a:ext cx="9144000" cy="1266600"/>
          </a:xfrm>
          <a:prstGeom prst="rect">
            <a:avLst/>
          </a:prstGeom>
          <a:solidFill>
            <a:srgbClr val="0D8C8C"/>
          </a:solidFill>
          <a:ln cap="flat" cmpd="sng" w="12700">
            <a:solidFill>
              <a:srgbClr val="0D8C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1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1"/>
          <p:cNvSpPr/>
          <p:nvPr/>
        </p:nvSpPr>
        <p:spPr>
          <a:xfrm>
            <a:off x="548640" y="960120"/>
            <a:ext cx="8046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We demonstrated that unstructured Reddit data can be transformed into a queryable career knowledge graph that delivers evidence-grounded advice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1"/>
          <p:cNvSpPr/>
          <p:nvPr/>
        </p:nvSpPr>
        <p:spPr>
          <a:xfrm>
            <a:off x="548640" y="1874520"/>
            <a:ext cx="8046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Future Work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1"/>
          <p:cNvSpPr/>
          <p:nvPr/>
        </p:nvSpPr>
        <p:spPr>
          <a:xfrm>
            <a:off x="553190" y="2450246"/>
            <a:ext cx="146400" cy="146400"/>
          </a:xfrm>
          <a:prstGeom prst="ellipse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1"/>
          <p:cNvSpPr/>
          <p:nvPr/>
        </p:nvSpPr>
        <p:spPr>
          <a:xfrm>
            <a:off x="809222" y="2413670"/>
            <a:ext cx="7772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Expand to more subreddits &amp; industries beyond tech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1"/>
          <p:cNvSpPr/>
          <p:nvPr/>
        </p:nvSpPr>
        <p:spPr>
          <a:xfrm>
            <a:off x="562278" y="2734512"/>
            <a:ext cx="146400" cy="146400"/>
          </a:xfrm>
          <a:prstGeom prst="ellipse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11"/>
          <p:cNvSpPr/>
          <p:nvPr/>
        </p:nvSpPr>
        <p:spPr>
          <a:xfrm>
            <a:off x="818310" y="2697936"/>
            <a:ext cx="7772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rack how advice quality evolves over time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1"/>
          <p:cNvSpPr/>
          <p:nvPr/>
        </p:nvSpPr>
        <p:spPr>
          <a:xfrm>
            <a:off x="562278" y="3027120"/>
            <a:ext cx="146400" cy="146400"/>
          </a:xfrm>
          <a:prstGeom prst="ellipse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1"/>
          <p:cNvSpPr/>
          <p:nvPr/>
        </p:nvSpPr>
        <p:spPr>
          <a:xfrm>
            <a:off x="818310" y="2990544"/>
            <a:ext cx="7772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Fine-tune smaller model on graph-grounded career Q&amp;A pairs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1"/>
          <p:cNvSpPr/>
          <p:nvPr/>
        </p:nvSpPr>
        <p:spPr>
          <a:xfrm>
            <a:off x="548640" y="4095717"/>
            <a:ext cx="8046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Thank you!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e045118868_2_4"/>
          <p:cNvSpPr/>
          <p:nvPr/>
        </p:nvSpPr>
        <p:spPr>
          <a:xfrm>
            <a:off x="0" y="0"/>
            <a:ext cx="9144000" cy="658500"/>
          </a:xfrm>
          <a:prstGeom prst="rect">
            <a:avLst/>
          </a:prstGeom>
          <a:solidFill>
            <a:srgbClr val="1A2744"/>
          </a:solidFill>
          <a:ln cap="flat" cmpd="sng" w="12700">
            <a:solidFill>
              <a:srgbClr val="1A27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g3e045118868_2_4"/>
          <p:cNvSpPr/>
          <p:nvPr/>
        </p:nvSpPr>
        <p:spPr>
          <a:xfrm>
            <a:off x="320040" y="0"/>
            <a:ext cx="68580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Sources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g3e045118868_2_4"/>
          <p:cNvSpPr/>
          <p:nvPr/>
        </p:nvSpPr>
        <p:spPr>
          <a:xfrm>
            <a:off x="457200" y="877824"/>
            <a:ext cx="3657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g3e045118868_2_4"/>
          <p:cNvSpPr/>
          <p:nvPr/>
        </p:nvSpPr>
        <p:spPr>
          <a:xfrm>
            <a:off x="274331" y="804675"/>
            <a:ext cx="8551800" cy="3977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g3e045118868_2_4"/>
          <p:cNvSpPr txBox="1"/>
          <p:nvPr/>
        </p:nvSpPr>
        <p:spPr>
          <a:xfrm>
            <a:off x="561000" y="1022025"/>
            <a:ext cx="7737600" cy="33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D8C8C"/>
                </a:solidFill>
                <a:latin typeface="Calibri"/>
                <a:ea typeface="Calibri"/>
                <a:cs typeface="Calibri"/>
                <a:sym typeface="Calibri"/>
              </a:rPr>
              <a:t>Data Sources:</a:t>
            </a:r>
            <a:endParaRPr b="1" sz="1200">
              <a:solidFill>
                <a:srgbClr val="0D8C8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D8C8C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Reddit (r/cscareerquestions, r/careerguidance, r/financialindependence, r/ITCareerQuestions, r/learnprogramming) — scraped via Reddit JSON API, 1,897 posts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D8C8C"/>
                </a:solidFill>
                <a:latin typeface="Calibri"/>
                <a:ea typeface="Calibri"/>
                <a:cs typeface="Calibri"/>
                <a:sym typeface="Calibri"/>
              </a:rPr>
              <a:t>Tools &amp; Models:</a:t>
            </a:r>
            <a:endParaRPr b="1" sz="1200">
              <a:solidFill>
                <a:srgbClr val="0D8C8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D8C8C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OpenAI GPT-4o-mini — LLM extraction + answer synthesis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8C8C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OpenAI text-embedding-3-small — semantic embeddings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8C8C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NetworkX — graph construction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8C8C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Claude (Anthropic) — coding assistance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D8C8C"/>
                </a:solidFill>
                <a:latin typeface="Calibri"/>
                <a:ea typeface="Calibri"/>
                <a:cs typeface="Calibri"/>
                <a:sym typeface="Calibri"/>
              </a:rPr>
              <a:t>References:</a:t>
            </a:r>
            <a:endParaRPr b="1" sz="1200">
              <a:solidFill>
                <a:srgbClr val="0D8C8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D8C8C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Edge et al. (2024) — GraphRAG paper - </a:t>
            </a:r>
            <a:r>
              <a:rPr lang="en-US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arxiv.org/abs/2404.16130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2026-04-19T23:08:01Z</dcterms:created>
  <dc:creator>PptxGenJS</dc:creator>
</cp:coreProperties>
</file>